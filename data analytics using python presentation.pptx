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83" r:id="rId9"/>
    <p:sldId id="284" r:id="rId10"/>
    <p:sldId id="285" r:id="rId11"/>
    <p:sldId id="279" r:id="rId12"/>
    <p:sldId id="281" r:id="rId13"/>
    <p:sldId id="282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2DDC-9187-41DB-AF0A-C01D1EE34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C5F24-637B-4280-8F66-6CD201AB5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9757E-87CD-4864-8D2C-CCDFEA2D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39B51-AFB8-4790-8DEE-C97792EF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EC83E-BF6C-479F-ACB3-CC535033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28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6859-FC1D-4FAA-8FEA-3F5578FE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3BF89-5EE1-42D6-BD65-B11B1202E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6A171-CAAD-4DFD-A8E6-A5A91FC6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D2D94-9E83-4F30-B4C3-6189D095A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D5A4F-FEE5-465C-81F0-EFA5A1282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76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40CE-B953-4496-8089-D7F919ED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FDF1F-3074-4D27-8BB3-329A27D4C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49591-5780-4BE9-A6EF-E7672163E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85825-1490-412F-91ED-CD4ABAD8F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EAF24-9A31-4730-A1CD-E9DFBFD5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31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3CFF-7690-4B9F-80E9-839AA4C5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3710-17BA-4EC1-ABF4-35ADBAA7B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07DF7-E796-43CA-BF26-41610E32D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373A5-0355-49B6-B692-FFD85092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64209-4884-4F69-9B81-EF6839178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3FCC3-9D22-4F68-A116-FC15EE09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9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673B-C506-40AB-9B92-4C3B84D6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EA167-9F99-4371-B3F3-AAF028781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1C513-EB1A-4874-A5E9-47F2191FD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72649-C898-4DD5-8B74-8AD1588A8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3FFEF-411D-4878-A57C-FFE99CCA6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99BEFA-9F63-45E1-B58A-DEC548C4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91C88-F495-450B-BB2C-A869C85A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19D44-1495-4AE2-BEDF-9845F568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8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A3A3-50CD-4485-90DF-2A954795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EBCC52-EA22-4FE6-A039-321963B3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76634-0B63-41A6-8C61-FAB93A34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2F5D7-9E80-41EE-857C-1B67EC33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1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B5236A-4F34-49D9-B6FA-53B41919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AA7491-75A9-4206-96FE-B3042B96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82A90-9518-4C92-8443-27E32D97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9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74E16-F159-4904-B6AE-19817669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9389-6B73-47A3-920D-2415BC43C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24B9C-05B9-4DAD-82E5-255C0B512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69124-B683-4FA0-943B-E516453A5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FC5A5-963C-4635-BB75-7B36B695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D573F-7EDD-48A9-B2BA-9542118C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1FC05-8F8E-4527-B193-6D1F9399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497798-FB6C-440E-BE55-0A4E58D00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23398-7A91-48EE-88AB-6F2AA6FD6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EB593-3F4A-4E65-A8E2-BC58C211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657FC-78AC-4202-ACF0-66F6D529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CC518-6420-4D7C-8653-E6FA749FF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9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8312-34EB-4D86-9C93-C566574F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68CEE-1AA7-4123-ABBF-744C23A9A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350FC-9CF3-4829-9F66-D2EDD6068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76889-AE6F-41FB-A4A2-E4CE0469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56AC4-14E4-4E0E-AE26-2737C3B6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9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4EB3EC-A377-497E-8E07-8EFCEB2F0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A96A4-584A-47B1-AD82-318CD6F18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B91B4-0BB1-4D34-8075-5E24A02AE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98FE6-A8DE-4D51-A425-7B680802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54F6-10E6-4ADA-BF6C-B2A50FBE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6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25028-C325-459A-ABED-1AD401936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4C64B-B065-4530-97D4-3257011AA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A902E-3816-4F6D-A735-834DE07B4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9BFCE-51E0-4F29-B88C-C12BF8A21E5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82328-1988-4D13-834F-D1D98B70B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948A2-4078-415B-8325-CC7B5AAF7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868D7-F54B-444B-B2BB-AE8B0714E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1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88B8C-AFC9-4774-B4AC-E933E8CEE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34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M.L.PARMAR COLLEGE OF COMPUTER SCIENCE &amp; 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C8BD-E5D7-4EA2-A2AC-A0F4125B7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624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BACHELOR OF COMPUTER APPLICATION </a:t>
            </a:r>
          </a:p>
          <a:p>
            <a:pPr marL="0" indent="0" algn="ctr">
              <a:buNone/>
            </a:pPr>
            <a:r>
              <a:rPr lang="en-US" sz="2000" b="1" dirty="0"/>
              <a:t>(B.C.A 6 TH SEMESTER) </a:t>
            </a:r>
          </a:p>
          <a:p>
            <a:pPr marL="0" indent="0" algn="ctr">
              <a:buNone/>
            </a:pPr>
            <a:r>
              <a:rPr lang="en-US" sz="2000" b="1" dirty="0"/>
              <a:t>YEAR: 2025-26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sz="4000" b="1" dirty="0"/>
              <a:t>PNP Sales Analysis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E3097-47C8-4CCE-AB91-311134D6514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850" y="1413178"/>
            <a:ext cx="2400300" cy="232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47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C62D-66B5-47C4-A458-7431E853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5609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2E78C-1793-4DF4-B5D1-0AE1FF15A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Data analytics is the process of examining raw data to extract meaningful insights, patterns, and trends.</a:t>
            </a:r>
          </a:p>
          <a:p>
            <a:r>
              <a:rPr lang="en-US" sz="2000" dirty="0"/>
              <a:t>It helps organizations make informed decisions and improve performance.</a:t>
            </a:r>
          </a:p>
          <a:p>
            <a:r>
              <a:rPr lang="en-US" sz="2000" dirty="0"/>
              <a:t>In this project, we analyze a sales dataset downloaded from Kaggle.</a:t>
            </a:r>
          </a:p>
          <a:p>
            <a:r>
              <a:rPr lang="en-US" sz="2000" dirty="0"/>
              <a:t> The objective is to understand customer behavior, product performance, and sales trends using Python libraries such as Pandas, NumPy, Matplotlib, and Seaborn.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1046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8883-A3D0-4B4F-B267-5C6BA5A9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Description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A5D19-9E2F-4D20-89B1-5A325D82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dataset contains 11,251 records and 15 columns. It represents customer purchase data including personal details, product information, and transaction values.</a:t>
            </a:r>
          </a:p>
          <a:p>
            <a:r>
              <a:rPr lang="en-US" sz="2000" dirty="0"/>
              <a:t>Columns in Dataset: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/>
              <a:t>User_ID</a:t>
            </a:r>
            <a:r>
              <a:rPr lang="en-US" sz="2000" dirty="0"/>
              <a:t> → Unique ID of customer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/>
              <a:t>Cust_name</a:t>
            </a:r>
            <a:r>
              <a:rPr lang="en-US" sz="2000" dirty="0"/>
              <a:t> → Customer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/>
              <a:t>Product_ID</a:t>
            </a:r>
            <a:r>
              <a:rPr lang="en-US" sz="2000" dirty="0"/>
              <a:t> → Unique product 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Gender → Male/Female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Age Group → Age category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Age → Customer 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/>
              <a:t>Marital_Status</a:t>
            </a:r>
            <a:r>
              <a:rPr lang="en-US" sz="2000" dirty="0"/>
              <a:t> → Married/Unmarried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84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5619A-E82C-4C34-B222-6E002BA92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5058"/>
            <a:ext cx="10515600" cy="52378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State → Customer state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Zone → Region of customer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Occupation → Customer profession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/>
              <a:t>Product_Category</a:t>
            </a:r>
            <a:r>
              <a:rPr lang="en-US" sz="2000" dirty="0"/>
              <a:t> → Type of product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Orders → Number of </a:t>
            </a:r>
            <a:r>
              <a:rPr lang="en-US" sz="2000" dirty="0" err="1"/>
              <a:t>ordersAmount</a:t>
            </a:r>
            <a:r>
              <a:rPr lang="en-US" sz="2000" dirty="0"/>
              <a:t> → Total purchase amount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Status → (Mostly empty / irrelevant)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unnamed1 → Empty column (to be removed)</a:t>
            </a:r>
          </a:p>
          <a:p>
            <a:endParaRPr lang="en-US" sz="2000" dirty="0"/>
          </a:p>
          <a:p>
            <a:r>
              <a:rPr lang="en-US" sz="2000" dirty="0"/>
              <a:t>Data Cleaning Steps: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Removed unnecessary columns (Status, unnamed1)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Handled missing values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Converted data types where required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Checked duplicates</a:t>
            </a:r>
          </a:p>
        </p:txBody>
      </p:sp>
    </p:spTree>
    <p:extLst>
      <p:ext uri="{BB962C8B-B14F-4D97-AF65-F5344CB8AC3E}">
        <p14:creationId xmlns:p14="http://schemas.microsoft.com/office/powerpoint/2010/main" val="1515006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916F0-6960-4CE0-8216-4FC7E346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29267"/>
            <a:ext cx="10515600" cy="585134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Analysis and Outputs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1B1AE-8BD0-4680-B711-442230D91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17813"/>
            <a:ext cx="5157787" cy="94129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Gender-Based Analysis :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EF27-CB83-4E56-BEAE-CD68E130E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72235"/>
            <a:ext cx="5157787" cy="4217428"/>
          </a:xfrm>
        </p:spPr>
        <p:txBody>
          <a:bodyPr>
            <a:normAutofit/>
          </a:bodyPr>
          <a:lstStyle/>
          <a:p>
            <a:r>
              <a:rPr lang="en-US" sz="2000" dirty="0"/>
              <a:t>Female customers contribute more to total sales.</a:t>
            </a:r>
          </a:p>
          <a:p>
            <a:r>
              <a:rPr lang="en-US" sz="2000" dirty="0"/>
              <a:t>Women tend to shop more frequently than men</a:t>
            </a:r>
            <a:r>
              <a:rPr lang="en-US" sz="2000" b="1" dirty="0"/>
              <a:t>.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64E3D8-A126-4C3F-A69B-4CB77BB209E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96" y="3379133"/>
            <a:ext cx="4255098" cy="271686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4BA446-7D85-470D-A90D-F3088310EC00}"/>
              </a:ext>
            </a:extLst>
          </p:cNvPr>
          <p:cNvPicPr>
            <a:picLocks noGrp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224" y="2707395"/>
            <a:ext cx="4939702" cy="369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1B1AE-8BD0-4680-B711-442230D91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969030"/>
            <a:ext cx="5157787" cy="8239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Age Group Analysis: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EF27-CB83-4E56-BEAE-CD68E130E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81163"/>
            <a:ext cx="5157787" cy="4508500"/>
          </a:xfrm>
        </p:spPr>
        <p:txBody>
          <a:bodyPr>
            <a:normAutofit/>
          </a:bodyPr>
          <a:lstStyle/>
          <a:p>
            <a:r>
              <a:rPr lang="en-US" sz="2000" dirty="0"/>
              <a:t>Highest sales come from the 26–35 age group.</a:t>
            </a:r>
          </a:p>
          <a:p>
            <a:r>
              <a:rPr lang="en-US" sz="2000" dirty="0"/>
              <a:t>Young adults are the primary buyers</a:t>
            </a:r>
            <a:r>
              <a:rPr lang="en-US" sz="2000" b="1" dirty="0"/>
              <a:t>.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3C2B5E-6F12-4BF4-8ACF-D4DD172BABA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74" y="2923988"/>
            <a:ext cx="4855355" cy="32656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D9EBFC-580F-4343-AD8E-1992861B831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573" y="2669680"/>
            <a:ext cx="5230758" cy="366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60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EF27-CB83-4E56-BEAE-CD68E130E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741"/>
            <a:ext cx="10515600" cy="4841222"/>
          </a:xfrm>
        </p:spPr>
        <p:txBody>
          <a:bodyPr>
            <a:normAutofit/>
          </a:bodyPr>
          <a:lstStyle/>
          <a:p>
            <a:r>
              <a:rPr lang="en-US" sz="2000" dirty="0"/>
              <a:t>Top contributing states:</a:t>
            </a:r>
          </a:p>
          <a:p>
            <a:r>
              <a:rPr lang="en-US" sz="2000" dirty="0"/>
              <a:t>Uttar Pradesh, Maharashtra, Karnataka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FD94BDA-D747-4985-BF99-E06C0F3BB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78571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State-wise Sales: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8E7132-869B-4D82-8A19-DADE3617825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834" y="2252662"/>
            <a:ext cx="9776011" cy="420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43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1B1AE-8BD0-4680-B711-442230D91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969030"/>
            <a:ext cx="5157787" cy="8239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Marital Status Analysis: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EF27-CB83-4E56-BEAE-CD68E130E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81163"/>
            <a:ext cx="5157787" cy="4508500"/>
          </a:xfrm>
        </p:spPr>
        <p:txBody>
          <a:bodyPr>
            <a:normAutofit/>
          </a:bodyPr>
          <a:lstStyle/>
          <a:p>
            <a:r>
              <a:rPr lang="en-US" sz="2000" dirty="0"/>
              <a:t>Married customers show higher purchasing power.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74D2C8-B3F8-49C9-8FF7-32A702C5530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4" y="2746935"/>
            <a:ext cx="4856321" cy="2873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A8E178-2A4C-4266-8C16-C5553B628D4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480" y="2573289"/>
            <a:ext cx="5257499" cy="322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0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EF27-CB83-4E56-BEAE-CD68E130E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741"/>
            <a:ext cx="10515600" cy="4841222"/>
          </a:xfrm>
        </p:spPr>
        <p:txBody>
          <a:bodyPr>
            <a:normAutofit/>
          </a:bodyPr>
          <a:lstStyle/>
          <a:p>
            <a:r>
              <a:rPr lang="en-US" sz="2000" dirty="0"/>
              <a:t>Highest sales from:</a:t>
            </a:r>
          </a:p>
          <a:p>
            <a:r>
              <a:rPr lang="en-US" sz="2000" dirty="0"/>
              <a:t>IT sector, Healthcare, Aviation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FD94BDA-D747-4985-BF99-E06C0F3BB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78571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n-lt"/>
              </a:rPr>
              <a:t>Occupation Analysis: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BF103-3B85-442A-BEE5-E616185A448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11" y="2380353"/>
            <a:ext cx="10229178" cy="402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1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EF27-CB83-4E56-BEAE-CD68E130E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741"/>
            <a:ext cx="10515600" cy="4841222"/>
          </a:xfrm>
        </p:spPr>
        <p:txBody>
          <a:bodyPr>
            <a:normAutofit/>
          </a:bodyPr>
          <a:lstStyle/>
          <a:p>
            <a:r>
              <a:rPr lang="en-US" sz="2000" dirty="0"/>
              <a:t>Most popular categories:</a:t>
            </a:r>
          </a:p>
          <a:p>
            <a:r>
              <a:rPr lang="en-US" sz="2000" dirty="0"/>
              <a:t>Food, Electronics, Clothing &amp; Apparel 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FD94BDA-D747-4985-BF99-E06C0F3BB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78571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+mn-lt"/>
              </a:rPr>
              <a:t>Product Category Analysis: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0D5F55-B6D2-48BA-8B58-B18680266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69" y="2218774"/>
            <a:ext cx="10398125" cy="440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24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8883-A3D0-4B4F-B267-5C6BA5A9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Observations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A5D19-9E2F-4D20-89B1-5A325D82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Female customers are the major buyers in the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Age group 26–35 dominates purchasing activity.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Married individuals spend more compared to unmarried ones.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Certain states contribute significantly to overall revenue.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Product categories like clothing and electronics are highly demanded.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Occupation plays an important role in purchasing capacity.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667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8883-A3D0-4B4F-B267-5C6BA5A9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Conclusion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A5D19-9E2F-4D20-89B1-5A325D82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This analysis provides valuable insights into customer behavior and sales patterns. Businesses can use this data to: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Target female customers more effectively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Focus marketing on the 26–35 age group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Increase inventory for high-demand product categories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Expand operations in high-performing states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Customize offers based on occupation and marital status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132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8883-A3D0-4B4F-B267-5C6BA5A9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Tools &amp; Technologies Used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A5D19-9E2F-4D20-89B1-5A325D82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Pandas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NumPy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Matplotlib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Seaborn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/>
              <a:t>Jupyter</a:t>
            </a:r>
            <a:r>
              <a:rPr lang="en-US" sz="2000" dirty="0"/>
              <a:t> Notebook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459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9B60BF1-A0FC-4769-92DE-E651DC3D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29773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458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M.L.PARMAR COLLEGE OF COMPUTER SCIENCE &amp; IT </vt:lpstr>
      <vt:lpstr>Introduction</vt:lpstr>
      <vt:lpstr>Description</vt:lpstr>
      <vt:lpstr>PowerPoint Presentation</vt:lpstr>
      <vt:lpstr> Analysis and Outputs </vt:lpstr>
      <vt:lpstr>PowerPoint Presentation</vt:lpstr>
      <vt:lpstr>State-wise Sales:</vt:lpstr>
      <vt:lpstr>PowerPoint Presentation</vt:lpstr>
      <vt:lpstr>Occupation Analysis:</vt:lpstr>
      <vt:lpstr>Product Category Analysis:</vt:lpstr>
      <vt:lpstr>Observations</vt:lpstr>
      <vt:lpstr>Conclusion</vt:lpstr>
      <vt:lpstr>Tools &amp; Technologies Used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M.L.PARMAR COLLEGE OF COMPUTER SCIENCE &amp; IT </dc:title>
  <dc:creator>nikunj tapaniya</dc:creator>
  <cp:lastModifiedBy>PARTH TAPANIYA</cp:lastModifiedBy>
  <cp:revision>55</cp:revision>
  <dcterms:created xsi:type="dcterms:W3CDTF">2026-03-27T15:24:44Z</dcterms:created>
  <dcterms:modified xsi:type="dcterms:W3CDTF">2026-04-14T17:32:03Z</dcterms:modified>
</cp:coreProperties>
</file>